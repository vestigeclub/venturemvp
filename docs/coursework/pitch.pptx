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997a9760b648ee" /><Relationship Type="http://schemas.openxmlformats.org/officeDocument/2006/relationships/extended-properties" Target="/docProps/app.xml" Id="R086ecedada174536" /><Relationship Type="http://schemas.openxmlformats.org/officeDocument/2006/relationships/officeDocument" Target="/ppt/presentation.xml" Id="Rf3b56e1445df400b" /></Relationships>
</file>

<file path=ppt/presentation.xml><?xml version="1.0" encoding="utf-8"?>
<p:presentation xmlns:p="http://schemas.openxmlformats.org/presentationml/2006/main">
  <p:sldMasterIdLst>
    <p:sldMasterId xmlns:r="http://schemas.openxmlformats.org/officeDocument/2006/relationships" id="2147483648" r:id="R5faabbee1c7442a6"/>
  </p:sldMasterIdLst>
  <p:notesMasterIdLst>
    <p:notesMasterId xmlns:r="http://schemas.openxmlformats.org/officeDocument/2006/relationships" r:id="R1db2405fc6614852"/>
  </p:notesMasterIdLst>
  <p:sldIdLst>
    <p:sldId xmlns:r="http://schemas.openxmlformats.org/officeDocument/2006/relationships" id="256" r:id="Rea99b1f01b4f4c96"/>
    <p:sldId xmlns:r="http://schemas.openxmlformats.org/officeDocument/2006/relationships" id="257" r:id="R6e506ccfb844453a"/>
    <p:sldId xmlns:r="http://schemas.openxmlformats.org/officeDocument/2006/relationships" id="258" r:id="Ra7d530e4c746410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b3d6d62d81045e3" /><Relationship Type="http://schemas.openxmlformats.org/officeDocument/2006/relationships/slideMaster" Target="/ppt/slideMasters/slideMaster1.xml" Id="R5faabbee1c7442a6" /><Relationship Type="http://schemas.openxmlformats.org/officeDocument/2006/relationships/notesMaster" Target="/ppt/notesMasters/notesMaster1.xml" Id="R1db2405fc6614852" /><Relationship Type="http://schemas.openxmlformats.org/officeDocument/2006/relationships/presProps" Target="/ppt/presProps.xml" Id="Rc7bf308a386148fa" /><Relationship Type="http://schemas.openxmlformats.org/officeDocument/2006/relationships/tableStyles" Target="/ppt/tableStyles.xml" Id="R693995523a254fcb" /><Relationship Type="http://schemas.openxmlformats.org/officeDocument/2006/relationships/slide" Target="/ppt/slides/slide1.xml" Id="Rea99b1f01b4f4c96" /><Relationship Type="http://schemas.openxmlformats.org/officeDocument/2006/relationships/slide" Target="/ppt/slides/slide2.xml" Id="R6e506ccfb844453a" /><Relationship Type="http://schemas.openxmlformats.org/officeDocument/2006/relationships/slide" Target="/ppt/slides/slide3.xml" Id="Ra7d530e4c746410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87d2816a77846e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699272162b420b" /><Relationship Type="http://schemas.openxmlformats.org/officeDocument/2006/relationships/notesMaster" Target="/ppt/notesMasters/notesMaster1.xml" Id="R8793c4e0558b4ebb"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eb7ace0f5442d5" /><Relationship Type="http://schemas.openxmlformats.org/officeDocument/2006/relationships/notesMaster" Target="/ppt/notesMasters/notesMaster1.xml" Id="R776e39a60d1340f2" /></Relationships>
</file>

<file path=ppt/notesSlides/_rels/notesSlide3.xml.rels>&#65279;<?xml version="1.0" encoding="utf-8"?><Relationships xmlns="http://schemas.openxmlformats.org/package/2006/relationships"><Relationship Type="http://schemas.openxmlformats.org/officeDocument/2006/relationships/slide" Target="/ppt/slides/slide3.xml" Id="R7c8202e7982d4873" /><Relationship Type="http://schemas.openxmlformats.org/officeDocument/2006/relationships/notesMaster" Target="/ppt/notesMasters/notesMaster1.xml" Id="R2278219db7dd43f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0–25 seconds. The deadline is tomorrow. Your group chat is busy, but nobody owns the slides. The student coordinating the project ends up chasing teammates or doing the missing work. Fairshare gives that coordinator a starting plan with an owner and date for every task.</a:t>
            </a:r>
          </a:p>
          <a:p xmlns:a="http://schemas.openxmlformats.org/drawingml/2006/main">
            <a:r>
              <a:t/>
            </a:r>
          </a:p>
          <a:p xmlns:a="http://schemas.openxmlformats.org/drawingml/2006/main">
            <a:r>
              <a:t>The scenario illustrates the proposed customer problem. Time savings have not been 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25–60 seconds, including a 15-second demonstration. Enter tasks, estimated hours, teammates, and a deadline. Fairshare distributes work using estimated hours. Here, I generate the plan, change an owner, watch workload totals update, and copy it into the team’s existing chat. The team must check availability and whether the dates make sense.</a:t>
            </a:r>
          </a:p>
          <a:p xmlns:a="http://schemas.openxmlformats.org/drawingml/2006/main">
            <a:r>
              <a:t/>
            </a:r>
          </a:p>
          <a:p xmlns:a="http://schemas.openxmlformats.org/drawingml/2006/main">
            <a:r>
              <a:t>DEMO: Open the live site with sample inputs prepared. Click Build my plan. Move Research customer needs from Sam to Alex, show 5h/1h/3h, then click Copy for group chat. Do not send the sample to a real group.</a:t>
            </a:r>
          </a:p>
          <a:p xmlns:a="http://schemas.openxmlformats.org/drawingml/2006/main">
            <a:r>
              <a:t/>
            </a:r>
          </a:p>
          <a:p xmlns:a="http://schemas.openxmlformats.org/drawingml/2006/main">
            <a:r>
              <a:t>The table is sample output, not participant evidence. Live product: https://vestigeclub.github.io/VentureMVP/. Sample dates are illustrative and the live sample uses the current date.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60–90 seconds. The planner is free. I propose a five-dollar human review, paid by the coordinator, to check the task list against the assignment brief, flag missing work, and suggest assignments based on availability. That service is not available yet, and payment demand is untested. First, I am testing whether students voluntarily use the plan in their real group workflow.</a:t>
            </a:r>
          </a:p>
          <a:p xmlns:a="http://schemas.openxmlformats.org/drawingml/2006/main">
            <a:r>
              <a:t/>
            </a:r>
          </a:p>
          <a:p xmlns:a="http://schemas.openxmlformats.org/drawingml/2006/main">
            <a:r>
              <a:t>One friend informally tested Fairshare for a group project, as reported by the owner. The formal H1 study remains incomplete. See docs/coursework/experiment.md and docs/coursework/economics.md in the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a70ab33375e44a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003ad1569de47ec" /><Relationship Type="http://schemas.openxmlformats.org/officeDocument/2006/relationships/slideLayout" Target="/ppt/slideLayouts/slideLayout1.xml" Id="R06c82f12d7f34ca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6c82f12d7f34c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d7f437f735c46c5" /><Relationship Type="http://schemas.openxmlformats.org/officeDocument/2006/relationships/notesSlide" Target="/ppt/notesSlides/notesSlide1.xml" Id="R82232c13ddc1450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8c223d3f9324c89" /><Relationship Type="http://schemas.openxmlformats.org/officeDocument/2006/relationships/notesSlide" Target="/ppt/notesSlides/notesSlide2.xml" Id="R8bd1e20ba8f4488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e022dcd3bdc49e5" /><Relationship Type="http://schemas.openxmlformats.org/officeDocument/2006/relationships/notesSlide" Target="/ppt/notesSlides/notesSlide3.xml" Id="R258cbcac70204dfe" /></Relationships>
</file>

<file path=ppt/slides/slide1.xml><?xml version="1.0" encoding="utf-8"?>
<p:sld xmlns:p="http://schemas.openxmlformats.org/presentationml/2006/main">
  <p:cSld>
    <p:bg>
      <p:bgPr>
        <a:solidFill xmlns:a="http://schemas.openxmlformats.org/drawingml/2006/main">
          <a:srgbClr val="2546EE"/>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301DA46-74CF-4405-B1DE-BD67A5A1754F}"/>
              </a:ext>
            </a:extLst>
          </p:cNvPr>
          <p:cNvSpPr>
            <a:spLocks xmlns:a="http://schemas.openxmlformats.org/drawingml/2006/main" noGrp="1"/>
          </p:cNvSpPr>
          <p:nvPr/>
        </p:nvSpPr>
        <p:spPr>
          <a:xfrm xmlns:a="http://schemas.openxmlformats.org/drawingml/2006/main">
            <a:off x="609600" y="381000"/>
            <a:ext cx="3810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FFFFFF"/>
                </a:solidFill>
                <a:latin typeface="Helvetica Neue"/>
                <a:ea typeface="Helvetica Neue"/>
                <a:cs typeface="Helvetica Neue"/>
              </a:defRPr>
            </a:pPr>
            <a:r>
              <a:rPr sz="2550" b="1">
                <a:solidFill>
                  <a:srgbClr val="FFFFFF"/>
                </a:solidFill>
                <a:latin typeface="Helvetica Neue"/>
                <a:ea typeface="Helvetica Neue"/>
                <a:cs typeface="Helvetica Neue"/>
              </a:rPr>
              <a:t>fairshare</a:t>
            </a:r>
          </a:p>
        </p:txBody>
      </p:sp>
      <p:sp>
        <p:nvSpPr>
          <p:cNvPr id="2" name="">
            <a:extLst xmlns:a="http://schemas.openxmlformats.org/drawingml/2006/main">
              <a:ext uri="{FF2B5EF4-FFF2-40B4-BE49-F238E27FC236}">
                <a16:creationId xmlns:a16="http://schemas.microsoft.com/office/drawing/2014/main" id="{742BE935-6791-4B80-8030-59C94A6C52DA}"/>
              </a:ext>
            </a:extLst>
          </p:cNvPr>
          <p:cNvSpPr>
            <a:spLocks xmlns:a="http://schemas.openxmlformats.org/drawingml/2006/main" noGrp="1"/>
          </p:cNvSpPr>
          <p:nvPr/>
        </p:nvSpPr>
        <p:spPr>
          <a:xfrm xmlns:a="http://schemas.openxmlformats.org/drawingml/2006/main">
            <a:off x="609600" y="1381125"/>
            <a:ext cx="108585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00" b="1">
                <a:solidFill>
                  <a:srgbClr val="FFFFFF"/>
                </a:solidFill>
                <a:latin typeface="Helvetica Neue"/>
                <a:ea typeface="Helvetica Neue"/>
                <a:cs typeface="Helvetica Neue"/>
              </a:defRPr>
            </a:pPr>
            <a:r>
              <a:rPr sz="5700" b="1">
                <a:solidFill>
                  <a:srgbClr val="FFFFFF"/>
                </a:solidFill>
                <a:latin typeface="Helvetica Neue"/>
                <a:ea typeface="Helvetica Neue"/>
                <a:cs typeface="Helvetica Neue"/>
              </a:rPr>
              <a:t>The deadline is tomorrow.</a:t>
            </a:r>
          </a:p>
          <a:p xmlns:a="http://schemas.openxmlformats.org/drawingml/2006/main">
            <a:pPr>
              <a:defRPr sz="5700" b="1">
                <a:solidFill>
                  <a:srgbClr val="FFFFFF"/>
                </a:solidFill>
                <a:latin typeface="Helvetica Neue"/>
                <a:ea typeface="Helvetica Neue"/>
                <a:cs typeface="Helvetica Neue"/>
              </a:defRPr>
            </a:pPr>
            <a:r>
              <a:rPr sz="5700" b="1">
                <a:solidFill>
                  <a:srgbClr val="FFFFFF"/>
                </a:solidFill>
                <a:latin typeface="Helvetica Neue"/>
                <a:ea typeface="Helvetica Neue"/>
                <a:cs typeface="Helvetica Neue"/>
              </a:rPr>
              <a:t>Who owns the slides?</a:t>
            </a:r>
          </a:p>
        </p:txBody>
      </p:sp>
      <p:sp>
        <p:nvSpPr>
          <p:cNvPr id="3" name="">
            <a:extLst xmlns:a="http://schemas.openxmlformats.org/drawingml/2006/main">
              <a:ext uri="{FF2B5EF4-FFF2-40B4-BE49-F238E27FC236}">
                <a16:creationId xmlns:a16="http://schemas.microsoft.com/office/drawing/2014/main" id="{288AAEE7-911E-4F63-AE87-8BFB7AA67C7E}"/>
              </a:ext>
            </a:extLst>
          </p:cNvPr>
          <p:cNvSpPr>
            <a:spLocks xmlns:a="http://schemas.openxmlformats.org/drawingml/2006/main" noGrp="1"/>
          </p:cNvSpPr>
          <p:nvPr/>
        </p:nvSpPr>
        <p:spPr>
          <a:xfrm xmlns:a="http://schemas.openxmlformats.org/drawingml/2006/main">
            <a:off x="647700" y="3857625"/>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For the student coordinating a group assignment</a:t>
            </a:r>
          </a:p>
          <a:p xmlns:a="http://schemas.openxmlformats.org/drawingml/2006/main">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when the group chat still has no clear owners.</a:t>
            </a:r>
          </a:p>
        </p:txBody>
      </p:sp>
      <p:sp>
        <p:nvSpPr>
          <p:cNvPr id="4" name="">
            <a:extLst xmlns:a="http://schemas.openxmlformats.org/drawingml/2006/main">
              <a:ext uri="{FF2B5EF4-FFF2-40B4-BE49-F238E27FC236}">
                <a16:creationId xmlns:a16="http://schemas.microsoft.com/office/drawing/2014/main" id="{295E0981-E0A8-4016-8F61-B871BC9B68E7}"/>
              </a:ext>
            </a:extLst>
          </p:cNvPr>
          <p:cNvSpPr>
            <a:spLocks xmlns:a="http://schemas.openxmlformats.org/drawingml/2006/main" noGrp="1"/>
          </p:cNvSpPr>
          <p:nvPr/>
        </p:nvSpPr>
        <p:spPr>
          <a:xfrm xmlns:a="http://schemas.openxmlformats.org/drawingml/2006/main">
            <a:off x="647700" y="53530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The cost: repeated follow-up and a last-minute scramble.</a:t>
            </a:r>
          </a:p>
        </p:txBody>
      </p:sp>
    </p:spTree>
    <p:extLst>
      <p:ext uri="{BB962C8B-B14F-4D97-AF65-F5344CB8AC3E}">
        <p14:creationId xmlns:p14="http://schemas.microsoft.com/office/powerpoint/2010/main" val="72970325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34C5CCC-D373-446B-AA47-2AB390EB4AC1}"/>
              </a:ext>
            </a:extLst>
          </p:cNvPr>
          <p:cNvSpPr>
            <a:spLocks xmlns:a="http://schemas.openxmlformats.org/drawingml/2006/main" noGrp="1"/>
          </p:cNvSpPr>
          <p:nvPr/>
        </p:nvSpPr>
        <p:spPr>
          <a:xfrm xmlns:a="http://schemas.openxmlformats.org/drawingml/2006/main">
            <a:off x="609600" y="3810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7191F"/>
                </a:solidFill>
                <a:latin typeface="Helvetica Neue"/>
                <a:ea typeface="Helvetica Neue"/>
                <a:cs typeface="Helvetica Neue"/>
              </a:defRPr>
            </a:pPr>
            <a:r>
              <a:rPr sz="3900" b="1">
                <a:solidFill>
                  <a:srgbClr val="17191F"/>
                </a:solidFill>
                <a:latin typeface="Helvetica Neue"/>
                <a:ea typeface="Helvetica Neue"/>
                <a:cs typeface="Helvetica Neue"/>
              </a:rPr>
              <a:t>A plan the team can review</a:t>
            </a:r>
          </a:p>
        </p:txBody>
      </p:sp>
      <p:sp>
        <p:nvSpPr>
          <p:cNvPr id="2" name="">
            <a:extLst xmlns:a="http://schemas.openxmlformats.org/drawingml/2006/main">
              <a:ext uri="{FF2B5EF4-FFF2-40B4-BE49-F238E27FC236}">
                <a16:creationId xmlns:a16="http://schemas.microsoft.com/office/drawing/2014/main" id="{05C856FA-AB71-4A0D-A1AE-89D4DF355C9B}"/>
              </a:ext>
            </a:extLst>
          </p:cNvPr>
          <p:cNvSpPr>
            <a:spLocks xmlns:a="http://schemas.openxmlformats.org/drawingml/2006/main" noGrp="1"/>
          </p:cNvSpPr>
          <p:nvPr/>
        </p:nvSpPr>
        <p:spPr>
          <a:xfrm xmlns:a="http://schemas.openxmlformats.org/drawingml/2006/main">
            <a:off x="647700" y="1190625"/>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60636E"/>
                </a:solidFill>
                <a:latin typeface="Helvetica Neue"/>
                <a:ea typeface="Helvetica Neue"/>
                <a:cs typeface="Helvetica Neue"/>
              </a:defRPr>
            </a:pPr>
            <a:r>
              <a:rPr sz="1950" b="0">
                <a:solidFill>
                  <a:srgbClr val="60636E"/>
                </a:solidFill>
                <a:latin typeface="Helvetica Neue"/>
                <a:ea typeface="Helvetica Neue"/>
                <a:cs typeface="Helvetica Neue"/>
              </a:rPr>
              <a:t>Sample project: 9 hours of work across 3 teammates</a:t>
            </a:r>
          </a:p>
        </p:txBody>
      </p:sp>
      <p:graphicFrame>
        <p:nvGraphicFramePr>
          <p:cNvPr id="8" name=""/>
          <p:cNvGraphicFramePr/>
          <p:nvPr/>
        </p:nvGraphicFramePr>
        <p:xfrm>
          <a:off xmlns:a="http://schemas.openxmlformats.org/drawingml/2006/main" x="647700" y="1952625"/>
          <a:ext xmlns:a="http://schemas.openxmlformats.org/drawingml/2006/main" cx="10896600" cy="3086100"/>
        </p:xfrm>
        <a:graphic xmlns:a="http://schemas.openxmlformats.org/drawingml/2006/main">
          <a:graphicData uri="http://schemas.openxmlformats.org/drawingml/2006/table">
            <a:tbl>
              <a:tblPr/>
              <a:tblGrid>
                <a:gridCol w="5429250"/>
                <a:gridCol w="1714500"/>
                <a:gridCol w="1524000"/>
                <a:gridCol w="2228850"/>
              </a:tblGrid>
              <a:tr h="514350">
                <a:tc>
                  <a:txBody>
                    <a:bodyPr/>
                    <a:lstStyle/>
                    <a:p>
                      <a:r>
                        <a:rPr sz="1950" b="1">
                          <a:solidFill>
                            <a:srgbClr val="FFFFFF"/>
                          </a:solidFill>
                          <a:latin typeface="Helvetica Neue"/>
                          <a:ea typeface="Helvetica Neue"/>
                          <a:cs typeface="Helvetica Neue"/>
                        </a:rPr>
                        <a:t>Task</a:t>
                      </a:r>
                    </a:p>
                  </a:txBody>
                  <a:tcPr marL="91440" marR="91440" marT="45720" marB="45720">
                    <a:solidFill>
                      <a:srgbClr val="2546EE"/>
                    </a:solidFill>
                  </a:tcPr>
                </a:tc>
                <a:tc>
                  <a:txBody>
                    <a:bodyPr/>
                    <a:lstStyle/>
                    <a:p>
                      <a:r>
                        <a:rPr sz="1950" b="1">
                          <a:solidFill>
                            <a:srgbClr val="FFFFFF"/>
                          </a:solidFill>
                          <a:latin typeface="Helvetica Neue"/>
                          <a:ea typeface="Helvetica Neue"/>
                          <a:cs typeface="Helvetica Neue"/>
                        </a:rPr>
                        <a:t>Owner</a:t>
                      </a:r>
                    </a:p>
                  </a:txBody>
                  <a:tcPr marL="91440" marR="91440" marT="45720" marB="45720">
                    <a:solidFill>
                      <a:srgbClr val="2546EE"/>
                    </a:solidFill>
                  </a:tcPr>
                </a:tc>
                <a:tc>
                  <a:txBody>
                    <a:bodyPr/>
                    <a:lstStyle/>
                    <a:p>
                      <a:r>
                        <a:rPr sz="1950" b="1">
                          <a:solidFill>
                            <a:srgbClr val="FFFFFF"/>
                          </a:solidFill>
                          <a:latin typeface="Helvetica Neue"/>
                          <a:ea typeface="Helvetica Neue"/>
                          <a:cs typeface="Helvetica Neue"/>
                        </a:rPr>
                        <a:t>Effort</a:t>
                      </a:r>
                    </a:p>
                  </a:txBody>
                  <a:tcPr marL="91440" marR="91440" marT="45720" marB="45720">
                    <a:solidFill>
                      <a:srgbClr val="2546EE"/>
                    </a:solidFill>
                  </a:tcPr>
                </a:tc>
                <a:tc>
                  <a:txBody>
                    <a:bodyPr/>
                    <a:lstStyle/>
                    <a:p>
                      <a:r>
                        <a:rPr sz="1950" b="1">
                          <a:solidFill>
                            <a:srgbClr val="FFFFFF"/>
                          </a:solidFill>
                          <a:latin typeface="Helvetica Neue"/>
                          <a:ea typeface="Helvetica Neue"/>
                          <a:cs typeface="Helvetica Neue"/>
                        </a:rPr>
                        <a:t>Due</a:t>
                      </a:r>
                    </a:p>
                  </a:txBody>
                  <a:tcPr marL="91440" marR="91440" marT="45720" marB="45720">
                    <a:solidFill>
                      <a:srgbClr val="2546EE"/>
                    </a:solidFill>
                  </a:tcPr>
                </a:tc>
              </a:tr>
              <a:tr h="514350">
                <a:tc>
                  <a:txBody>
                    <a:bodyPr/>
                    <a:lstStyle/>
                    <a:p>
                      <a:r>
                        <a:rPr sz="1950" b="0">
                          <a:solidFill>
                            <a:srgbClr val="17191F"/>
                          </a:solidFill>
                          <a:latin typeface="Helvetica Neue"/>
                          <a:ea typeface="Helvetica Neue"/>
                          <a:cs typeface="Helvetica Neue"/>
                        </a:rPr>
                        <a:t>Research customer needs</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Sam</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2h</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09/09</a:t>
                      </a:r>
                    </a:p>
                  </a:txBody>
                  <a:tcPr marL="91440" marR="91440" marT="45720" marB="45720">
                    <a:solidFill>
                      <a:srgbClr val="FFFFFF"/>
                    </a:solidFill>
                  </a:tcPr>
                </a:tc>
              </a:tr>
              <a:tr h="514350">
                <a:tc>
                  <a:txBody>
                    <a:bodyPr/>
                    <a:lstStyle/>
                    <a:p>
                      <a:r>
                        <a:rPr sz="1950" b="0">
                          <a:solidFill>
                            <a:srgbClr val="17191F"/>
                          </a:solidFill>
                          <a:latin typeface="Helvetica Neue"/>
                          <a:ea typeface="Helvetica Neue"/>
                          <a:cs typeface="Helvetica Neue"/>
                        </a:rPr>
                        <a:t>Compare competitors</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Jo</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2h</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09/10</a:t>
                      </a:r>
                    </a:p>
                  </a:txBody>
                  <a:tcPr marL="91440" marR="91440" marT="45720" marB="45720">
                    <a:solidFill>
                      <a:srgbClr val="FFFFFF"/>
                    </a:solidFill>
                  </a:tcPr>
                </a:tc>
              </a:tr>
              <a:tr h="514350">
                <a:tc>
                  <a:txBody>
                    <a:bodyPr/>
                    <a:lstStyle/>
                    <a:p>
                      <a:r>
                        <a:rPr sz="1950" b="0">
                          <a:solidFill>
                            <a:srgbClr val="17191F"/>
                          </a:solidFill>
                          <a:latin typeface="Helvetica Neue"/>
                          <a:ea typeface="Helvetica Neue"/>
                          <a:cs typeface="Helvetica Neue"/>
                        </a:rPr>
                        <a:t>Estimate the budget</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Sam</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1h</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09/11</a:t>
                      </a:r>
                    </a:p>
                  </a:txBody>
                  <a:tcPr marL="91440" marR="91440" marT="45720" marB="45720">
                    <a:solidFill>
                      <a:srgbClr val="FFFFFF"/>
                    </a:solidFill>
                  </a:tcPr>
                </a:tc>
              </a:tr>
              <a:tr h="514350">
                <a:tc>
                  <a:txBody>
                    <a:bodyPr/>
                    <a:lstStyle/>
                    <a:p>
                      <a:r>
                        <a:rPr sz="1950" b="0">
                          <a:solidFill>
                            <a:srgbClr val="17191F"/>
                          </a:solidFill>
                          <a:latin typeface="Helvetica Neue"/>
                          <a:ea typeface="Helvetica Neue"/>
                          <a:cs typeface="Helvetica Neue"/>
                        </a:rPr>
                        <a:t>Draft presentation slides</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Alex</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3h</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09/12</a:t>
                      </a:r>
                    </a:p>
                  </a:txBody>
                  <a:tcPr marL="91440" marR="91440" marT="45720" marB="45720">
                    <a:solidFill>
                      <a:srgbClr val="FFFFFF"/>
                    </a:solidFill>
                  </a:tcPr>
                </a:tc>
              </a:tr>
              <a:tr h="514350">
                <a:tc>
                  <a:txBody>
                    <a:bodyPr/>
                    <a:lstStyle/>
                    <a:p>
                      <a:r>
                        <a:rPr sz="1950" b="0">
                          <a:solidFill>
                            <a:srgbClr val="17191F"/>
                          </a:solidFill>
                          <a:latin typeface="Helvetica Neue"/>
                          <a:ea typeface="Helvetica Neue"/>
                          <a:cs typeface="Helvetica Neue"/>
                        </a:rPr>
                        <a:t>Review and rehearse</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Jo</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1h</a:t>
                      </a:r>
                    </a:p>
                  </a:txBody>
                  <a:tcPr marL="91440" marR="91440" marT="45720" marB="45720">
                    <a:solidFill>
                      <a:srgbClr val="FFFFFF"/>
                    </a:solidFill>
                  </a:tcPr>
                </a:tc>
                <a:tc>
                  <a:txBody>
                    <a:bodyPr/>
                    <a:lstStyle/>
                    <a:p>
                      <a:r>
                        <a:rPr sz="1950" b="0">
                          <a:solidFill>
                            <a:srgbClr val="17191F"/>
                          </a:solidFill>
                          <a:latin typeface="Helvetica Neue"/>
                          <a:ea typeface="Helvetica Neue"/>
                          <a:cs typeface="Helvetica Neue"/>
                        </a:rPr>
                        <a:t>09/14</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55CE7D9-6852-4ADD-8F14-19124BEB0B0F}"/>
              </a:ext>
            </a:extLst>
          </p:cNvPr>
          <p:cNvSpPr>
            <a:spLocks xmlns:a="http://schemas.openxmlformats.org/drawingml/2006/main" noGrp="1"/>
          </p:cNvSpPr>
          <p:nvPr/>
        </p:nvSpPr>
        <p:spPr>
          <a:xfrm xmlns:a="http://schemas.openxmlformats.org/drawingml/2006/main">
            <a:off x="666750" y="523875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2546EE"/>
                </a:solidFill>
                <a:latin typeface="Helvetica Neue"/>
                <a:ea typeface="Helvetica Neue"/>
                <a:cs typeface="Helvetica Neue"/>
              </a:defRPr>
            </a:pPr>
            <a:r>
              <a:rPr sz="2100" b="1">
                <a:solidFill>
                  <a:srgbClr val="2546EE"/>
                </a:solidFill>
                <a:latin typeface="Helvetica Neue"/>
                <a:ea typeface="Helvetica Neue"/>
                <a:cs typeface="Helvetica Neue"/>
              </a:rPr>
              <a:t>Alex 3h     Sam 3h     Jo 3h</a:t>
            </a:r>
          </a:p>
        </p:txBody>
      </p:sp>
      <p:sp>
        <p:nvSpPr>
          <p:cNvPr id="5" name="">
            <a:extLst xmlns:a="http://schemas.openxmlformats.org/drawingml/2006/main">
              <a:ext uri="{FF2B5EF4-FFF2-40B4-BE49-F238E27FC236}">
                <a16:creationId xmlns:a16="http://schemas.microsoft.com/office/drawing/2014/main" id="{2336B21D-DF73-43EE-8E82-51865FB261C0}"/>
              </a:ext>
            </a:extLst>
          </p:cNvPr>
          <p:cNvSpPr>
            <a:spLocks xmlns:a="http://schemas.openxmlformats.org/drawingml/2006/main" noGrp="1"/>
          </p:cNvSpPr>
          <p:nvPr/>
        </p:nvSpPr>
        <p:spPr>
          <a:xfrm xmlns:a="http://schemas.openxmlformats.org/drawingml/2006/main">
            <a:off x="666750" y="5962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0636E"/>
                </a:solidFill>
                <a:latin typeface="Helvetica Neue"/>
                <a:ea typeface="Helvetica Neue"/>
                <a:cs typeface="Helvetica Neue"/>
              </a:defRPr>
            </a:pPr>
            <a:r>
              <a:rPr sz="1725" b="0">
                <a:solidFill>
                  <a:srgbClr val="60636E"/>
                </a:solidFill>
                <a:latin typeface="Helvetica Neue"/>
                <a:ea typeface="Helvetica Neue"/>
                <a:cs typeface="Helvetica Neue"/>
              </a:rPr>
              <a:t>vestigeclub.github.io/VentureMVP</a:t>
            </a:r>
          </a:p>
        </p:txBody>
      </p:sp>
    </p:spTree>
    <p:extLst>
      <p:ext uri="{BB962C8B-B14F-4D97-AF65-F5344CB8AC3E}">
        <p14:creationId xmlns:p14="http://schemas.microsoft.com/office/powerpoint/2010/main" val="18775200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BD08A29-E570-45AA-B44F-4D16319A066F}"/>
              </a:ext>
            </a:extLst>
          </p:cNvPr>
          <p:cNvSpPr>
            <a:spLocks xmlns:a="http://schemas.openxmlformats.org/drawingml/2006/main" noGrp="1"/>
          </p:cNvSpPr>
          <p:nvPr/>
        </p:nvSpPr>
        <p:spPr>
          <a:xfrm xmlns:a="http://schemas.openxmlformats.org/drawingml/2006/main">
            <a:off x="609600" y="42862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7191F"/>
                </a:solidFill>
                <a:latin typeface="Helvetica Neue"/>
                <a:ea typeface="Helvetica Neue"/>
                <a:cs typeface="Helvetica Neue"/>
              </a:defRPr>
            </a:pPr>
            <a:r>
              <a:rPr sz="3900" b="1">
                <a:solidFill>
                  <a:srgbClr val="17191F"/>
                </a:solidFill>
                <a:latin typeface="Helvetica Neue"/>
                <a:ea typeface="Helvetica Neue"/>
                <a:cs typeface="Helvetica Neue"/>
              </a:rPr>
              <a:t>Proposed payer: the coordinator</a:t>
            </a:r>
          </a:p>
        </p:txBody>
      </p:sp>
      <p:sp>
        <p:nvSpPr>
          <p:cNvPr id="2" name="">
            <a:extLst xmlns:a="http://schemas.openxmlformats.org/drawingml/2006/main">
              <a:ext uri="{FF2B5EF4-FFF2-40B4-BE49-F238E27FC236}">
                <a16:creationId xmlns:a16="http://schemas.microsoft.com/office/drawing/2014/main" id="{00FDE3C4-28DD-43F3-8BA5-8DE99ADCD6BA}"/>
              </a:ext>
            </a:extLst>
          </p:cNvPr>
          <p:cNvSpPr>
            <a:spLocks xmlns:a="http://schemas.openxmlformats.org/drawingml/2006/main" noGrp="1"/>
          </p:cNvSpPr>
          <p:nvPr/>
        </p:nvSpPr>
        <p:spPr>
          <a:xfrm xmlns:a="http://schemas.openxmlformats.org/drawingml/2006/main">
            <a:off x="647700" y="1571625"/>
            <a:ext cx="39052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900" b="1">
                <a:solidFill>
                  <a:srgbClr val="2546EE"/>
                </a:solidFill>
                <a:latin typeface="Helvetica Neue"/>
                <a:ea typeface="Helvetica Neue"/>
                <a:cs typeface="Helvetica Neue"/>
              </a:defRPr>
            </a:pPr>
            <a:r>
              <a:rPr sz="9900" b="1">
                <a:solidFill>
                  <a:srgbClr val="2546EE"/>
                </a:solidFill>
                <a:latin typeface="Helvetica Neue"/>
                <a:ea typeface="Helvetica Neue"/>
                <a:cs typeface="Helvetica Neue"/>
              </a:rPr>
              <a:t>$5</a:t>
            </a:r>
          </a:p>
        </p:txBody>
      </p:sp>
      <p:sp>
        <p:nvSpPr>
          <p:cNvPr id="3" name="">
            <a:extLst xmlns:a="http://schemas.openxmlformats.org/drawingml/2006/main">
              <a:ext uri="{FF2B5EF4-FFF2-40B4-BE49-F238E27FC236}">
                <a16:creationId xmlns:a16="http://schemas.microsoft.com/office/drawing/2014/main" id="{BFB22E3E-E37C-4D39-8AA7-04B85D7A1A49}"/>
              </a:ext>
            </a:extLst>
          </p:cNvPr>
          <p:cNvSpPr>
            <a:spLocks xmlns:a="http://schemas.openxmlformats.org/drawingml/2006/main" noGrp="1"/>
          </p:cNvSpPr>
          <p:nvPr/>
        </p:nvSpPr>
        <p:spPr>
          <a:xfrm xmlns:a="http://schemas.openxmlformats.org/drawingml/2006/main">
            <a:off x="685800" y="3333750"/>
            <a:ext cx="4667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191F"/>
                </a:solidFill>
                <a:latin typeface="Helvetica Neue"/>
                <a:ea typeface="Helvetica Neue"/>
                <a:cs typeface="Helvetica Neue"/>
              </a:defRPr>
            </a:pPr>
            <a:r>
              <a:rPr sz="2250" b="0">
                <a:solidFill>
                  <a:srgbClr val="17191F"/>
                </a:solidFill>
                <a:latin typeface="Helvetica Neue"/>
                <a:ea typeface="Helvetica Neue"/>
                <a:cs typeface="Helvetica Neue"/>
              </a:rPr>
              <a:t>Proposed human plan review</a:t>
            </a:r>
          </a:p>
          <a:p xmlns:a="http://schemas.openxmlformats.org/drawingml/2006/main">
            <a:pPr>
              <a:defRPr sz="2250" b="0">
                <a:solidFill>
                  <a:srgbClr val="17191F"/>
                </a:solidFill>
                <a:latin typeface="Helvetica Neue"/>
                <a:ea typeface="Helvetica Neue"/>
                <a:cs typeface="Helvetica Neue"/>
              </a:defRPr>
            </a:pPr>
            <a:r>
              <a:rPr sz="2250" b="0">
                <a:solidFill>
                  <a:srgbClr val="17191F"/>
                </a:solidFill>
                <a:latin typeface="Helvetica Neue"/>
                <a:ea typeface="Helvetica Neue"/>
                <a:cs typeface="Helvetica Neue"/>
              </a:rPr>
              <a:t>per team, per assignment</a:t>
            </a:r>
          </a:p>
        </p:txBody>
      </p:sp>
      <p:sp>
        <p:nvSpPr>
          <p:cNvPr id="4" name="">
            <a:extLst xmlns:a="http://schemas.openxmlformats.org/drawingml/2006/main">
              <a:ext uri="{FF2B5EF4-FFF2-40B4-BE49-F238E27FC236}">
                <a16:creationId xmlns:a16="http://schemas.microsoft.com/office/drawing/2014/main" id="{17A95473-389E-4741-9453-4CA6D3ABDF03}"/>
              </a:ext>
            </a:extLst>
          </p:cNvPr>
          <p:cNvSpPr>
            <a:spLocks xmlns:a="http://schemas.openxmlformats.org/drawingml/2006/main" noGrp="1"/>
          </p:cNvSpPr>
          <p:nvPr/>
        </p:nvSpPr>
        <p:spPr>
          <a:xfrm xmlns:a="http://schemas.openxmlformats.org/drawingml/2006/main">
            <a:off x="6229350" y="1771650"/>
            <a:ext cx="5238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191F"/>
                </a:solidFill>
                <a:latin typeface="Helvetica Neue"/>
                <a:ea typeface="Helvetica Neue"/>
                <a:cs typeface="Helvetica Neue"/>
              </a:defRPr>
            </a:pPr>
            <a:r>
              <a:rPr sz="2250" b="0">
                <a:solidFill>
                  <a:srgbClr val="17191F"/>
                </a:solidFill>
                <a:latin typeface="Helvetica Neue"/>
                <a:ea typeface="Helvetica Neue"/>
                <a:cs typeface="Helvetica Neue"/>
              </a:rPr>
              <a:t>Check the assignment brief.</a:t>
            </a:r>
          </a:p>
          <a:p xmlns:a="http://schemas.openxmlformats.org/drawingml/2006/main">
            <a:pPr>
              <a:defRPr sz="2250" b="0">
                <a:solidFill>
                  <a:srgbClr val="17191F"/>
                </a:solidFill>
                <a:latin typeface="Helvetica Neue"/>
                <a:ea typeface="Helvetica Neue"/>
                <a:cs typeface="Helvetica Neue"/>
              </a:defRPr>
            </a:pPr>
            <a:r>
              <a:rPr sz="2250" b="0">
                <a:solidFill>
                  <a:srgbClr val="17191F"/>
                </a:solidFill>
                <a:latin typeface="Helvetica Neue"/>
                <a:ea typeface="Helvetica Neue"/>
                <a:cs typeface="Helvetica Neue"/>
              </a:rPr>
              <a:t>Flag missing tasks.</a:t>
            </a:r>
          </a:p>
          <a:p xmlns:a="http://schemas.openxmlformats.org/drawingml/2006/main">
            <a:pPr>
              <a:defRPr sz="2250" b="0">
                <a:solidFill>
                  <a:srgbClr val="17191F"/>
                </a:solidFill>
                <a:latin typeface="Helvetica Neue"/>
                <a:ea typeface="Helvetica Neue"/>
                <a:cs typeface="Helvetica Neue"/>
              </a:defRPr>
            </a:pPr>
            <a:r>
              <a:rPr sz="2250" b="0">
                <a:solidFill>
                  <a:srgbClr val="17191F"/>
                </a:solidFill>
                <a:latin typeface="Helvetica Neue"/>
                <a:ea typeface="Helvetica Neue"/>
                <a:cs typeface="Helvetica Neue"/>
              </a:rPr>
              <a:t>Consider teammate availability.</a:t>
            </a:r>
          </a:p>
        </p:txBody>
      </p:sp>
      <p:sp>
        <p:nvSpPr>
          <p:cNvPr id="5" name="">
            <a:extLst xmlns:a="http://schemas.openxmlformats.org/drawingml/2006/main">
              <a:ext uri="{FF2B5EF4-FFF2-40B4-BE49-F238E27FC236}">
                <a16:creationId xmlns:a16="http://schemas.microsoft.com/office/drawing/2014/main" id="{42823CAA-0AE5-48BE-9F88-F4B4CE898267}"/>
              </a:ext>
            </a:extLst>
          </p:cNvPr>
          <p:cNvSpPr>
            <a:spLocks xmlns:a="http://schemas.openxmlformats.org/drawingml/2006/main" noGrp="1"/>
          </p:cNvSpPr>
          <p:nvPr/>
        </p:nvSpPr>
        <p:spPr>
          <a:xfrm xmlns:a="http://schemas.openxmlformats.org/drawingml/2006/main">
            <a:off x="6229350" y="3238500"/>
            <a:ext cx="5238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60636E"/>
                </a:solidFill>
                <a:latin typeface="Helvetica Neue"/>
                <a:ea typeface="Helvetica Neue"/>
                <a:cs typeface="Helvetica Neue"/>
              </a:defRPr>
            </a:pPr>
            <a:r>
              <a:rPr sz="2100" b="0">
                <a:solidFill>
                  <a:srgbClr val="60636E"/>
                </a:solidFill>
                <a:latin typeface="Helvetica Neue"/>
                <a:ea typeface="Helvetica Neue"/>
                <a:cs typeface="Helvetica Neue"/>
              </a:rPr>
              <a:t>The free planner works today.</a:t>
            </a:r>
          </a:p>
          <a:p xmlns:a="http://schemas.openxmlformats.org/drawingml/2006/main">
            <a:pPr>
              <a:defRPr sz="2100" b="0">
                <a:solidFill>
                  <a:srgbClr val="60636E"/>
                </a:solidFill>
                <a:latin typeface="Helvetica Neue"/>
                <a:ea typeface="Helvetica Neue"/>
                <a:cs typeface="Helvetica Neue"/>
              </a:defRPr>
            </a:pPr>
            <a:r>
              <a:rPr sz="2100" b="0">
                <a:solidFill>
                  <a:srgbClr val="60636E"/>
                </a:solidFill>
                <a:latin typeface="Helvetica Neue"/>
                <a:ea typeface="Helvetica Neue"/>
                <a:cs typeface="Helvetica Neue"/>
              </a:rPr>
              <a:t>Paid review is not available yet.</a:t>
            </a:r>
          </a:p>
          <a:p xmlns:a="http://schemas.openxmlformats.org/drawingml/2006/main">
            <a:pPr>
              <a:defRPr sz="2100" b="0">
                <a:solidFill>
                  <a:srgbClr val="60636E"/>
                </a:solidFill>
                <a:latin typeface="Helvetica Neue"/>
                <a:ea typeface="Helvetica Neue"/>
                <a:cs typeface="Helvetica Neue"/>
              </a:defRPr>
            </a:pPr>
            <a:r>
              <a:rPr sz="2100" b="0">
                <a:solidFill>
                  <a:srgbClr val="60636E"/>
                </a:solidFill>
                <a:latin typeface="Helvetica Neue"/>
                <a:ea typeface="Helvetica Neue"/>
                <a:cs typeface="Helvetica Neue"/>
              </a:rPr>
              <a:t>Willingness to pay is untested.</a:t>
            </a:r>
          </a:p>
        </p:txBody>
      </p:sp>
      <p:sp>
        <p:nvSpPr>
          <p:cNvPr id="6" name="">
            <a:extLst xmlns:a="http://schemas.openxmlformats.org/drawingml/2006/main">
              <a:ext uri="{FF2B5EF4-FFF2-40B4-BE49-F238E27FC236}">
                <a16:creationId xmlns:a16="http://schemas.microsoft.com/office/drawing/2014/main" id="{4459C296-F6A5-457F-AFC6-7FF3C15B984F}"/>
              </a:ext>
            </a:extLst>
          </p:cNvPr>
          <p:cNvSpPr>
            <a:spLocks xmlns:a="http://schemas.openxmlformats.org/drawingml/2006/main" noGrp="1"/>
          </p:cNvSpPr>
          <p:nvPr/>
        </p:nvSpPr>
        <p:spPr>
          <a:xfrm xmlns:a="http://schemas.openxmlformats.org/drawingml/2006/main">
            <a:off x="666750" y="5410200"/>
            <a:ext cx="1076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191F"/>
                </a:solidFill>
                <a:latin typeface="Helvetica Neue"/>
                <a:ea typeface="Helvetica Neue"/>
                <a:cs typeface="Helvetica Neue"/>
              </a:defRPr>
            </a:pPr>
            <a:r>
              <a:rPr sz="2175" b="1">
                <a:solidFill>
                  <a:srgbClr val="17191F"/>
                </a:solidFill>
                <a:latin typeface="Helvetica Neue"/>
                <a:ea typeface="Helvetica Neue"/>
                <a:cs typeface="Helvetica Neue"/>
              </a:rPr>
              <a:t>First test: will 2 of 3 students put a plan into their real team workflow?</a:t>
            </a:r>
          </a:p>
        </p:txBody>
      </p:sp>
    </p:spTree>
    <p:extLst>
      <p:ext uri="{BB962C8B-B14F-4D97-AF65-F5344CB8AC3E}">
        <p14:creationId xmlns:p14="http://schemas.microsoft.com/office/powerpoint/2010/main" val="4161343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2026-09-08T15:46:13.5210000Z</dcterms:created>
  <dcterms:modified xsi:type="dcterms:W3CDTF">2026-09-08T15:46:13.5210000Z</dcterms:modified>
</coreProperties>
</file>