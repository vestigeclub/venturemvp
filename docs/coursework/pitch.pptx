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de83633a1c463a" /><Relationship Type="http://schemas.openxmlformats.org/officeDocument/2006/relationships/extended-properties" Target="/docProps/app.xml" Id="R6aac838e226941aa" /><Relationship Type="http://schemas.openxmlformats.org/officeDocument/2006/relationships/officeDocument" Target="/ppt/presentation.xml" Id="Rae843e5601a44bda" /></Relationships>
</file>

<file path=ppt/presentation.xml><?xml version="1.0" encoding="utf-8"?>
<p:presentation xmlns:p="http://schemas.openxmlformats.org/presentationml/2006/main">
  <p:sldMasterIdLst>
    <p:sldMasterId xmlns:r="http://schemas.openxmlformats.org/officeDocument/2006/relationships" id="2147483648" r:id="R7d9d6b1311a44c23"/>
  </p:sldMasterIdLst>
  <p:notesMasterIdLst>
    <p:notesMasterId xmlns:r="http://schemas.openxmlformats.org/officeDocument/2006/relationships" r:id="R3049cd2c47244308"/>
  </p:notesMasterIdLst>
  <p:sldIdLst>
    <p:sldId xmlns:r="http://schemas.openxmlformats.org/officeDocument/2006/relationships" id="256" r:id="R676b1826acf84386"/>
    <p:sldId xmlns:r="http://schemas.openxmlformats.org/officeDocument/2006/relationships" id="257" r:id="Rd8ac5338e8074a13"/>
    <p:sldId xmlns:r="http://schemas.openxmlformats.org/officeDocument/2006/relationships" id="258" r:id="Rfdb994fa104f45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8fd01457284eda" /><Relationship Type="http://schemas.openxmlformats.org/officeDocument/2006/relationships/slideMaster" Target="/ppt/slideMasters/slideMaster1.xml" Id="R7d9d6b1311a44c23" /><Relationship Type="http://schemas.openxmlformats.org/officeDocument/2006/relationships/notesMaster" Target="/ppt/notesMasters/notesMaster1.xml" Id="R3049cd2c47244308" /><Relationship Type="http://schemas.openxmlformats.org/officeDocument/2006/relationships/presProps" Target="/ppt/presProps.xml" Id="R2a0f64c21867423d" /><Relationship Type="http://schemas.openxmlformats.org/officeDocument/2006/relationships/tableStyles" Target="/ppt/tableStyles.xml" Id="Rdc4d768c53c346aa" /><Relationship Type="http://schemas.openxmlformats.org/officeDocument/2006/relationships/slide" Target="/ppt/slides/slide1.xml" Id="R676b1826acf84386" /><Relationship Type="http://schemas.openxmlformats.org/officeDocument/2006/relationships/slide" Target="/ppt/slides/slide2.xml" Id="Rd8ac5338e8074a13" /><Relationship Type="http://schemas.openxmlformats.org/officeDocument/2006/relationships/slide" Target="/ppt/slides/slide3.xml" Id="Rfdb994fa104f45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c37eb68bf548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d775cbbcb9496d" /><Relationship Type="http://schemas.openxmlformats.org/officeDocument/2006/relationships/notesMaster" Target="/ppt/notesMasters/notesMaster1.xml" Id="Rff0743230fd648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af2ab70da94c63" /><Relationship Type="http://schemas.openxmlformats.org/officeDocument/2006/relationships/notesMaster" Target="/ppt/notesMasters/notesMaster1.xml" Id="Re95267004d17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79359f58ec41c0" /><Relationship Type="http://schemas.openxmlformats.org/officeDocument/2006/relationships/notesMaster" Target="/ppt/notesMasters/notesMaster1.xml" Id="R7e7eeea9d5ea4c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 seconds. Imagine your group project is due tomorrow. The group chat is active, but nobody owns the slides. The student coordinating the team has to chase people or finish the missing work. Fairshare is for that coordinator: a draft plan with a named owner and date for every task.</a:t>
            </a:r>
          </a:p>
          <a:p xmlns:a="http://schemas.openxmlformats.org/drawingml/2006/main">
            <a:r>
              <a:t/>
            </a:r>
          </a:p>
          <a:p xmlns:a="http://schemas.openxmlformats.org/drawingml/2006/main">
            <a:r>
              <a:t>The scenario and cost are hypotheses, not a participant quote or a measured result. Based on the owner-provided assignment and product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25–60 seconds, including a 15-second live demonstration. Here is the working planner. Estimated hours guide the assignments. I can change an owner, see the workload change, then copy the plan into the team’s existing chat. The team still decides whether the assignments and dates make sense.</a:t>
            </a:r>
          </a:p>
          <a:p xmlns:a="http://schemas.openxmlformats.org/drawingml/2006/main">
            <a:r>
              <a:t/>
            </a:r>
          </a:p>
          <a:p xmlns:a="http://schemas.openxmlformats.org/drawingml/2006/main">
            <a:r>
              <a:t>DEMO: Switch to the live site with the sample inputs prepared. Click Build my plan to demonstrate allocation. Move Research customer needs from Sam to Alex, show 5h/1h/3h, then click Copy for group chat. Do not paste or send to a real group during the pitch. Return to slide 3 by 60 seconds.</a:t>
            </a:r>
          </a:p>
          <a:p xmlns:a="http://schemas.openxmlformats.org/drawingml/2006/main">
            <a:r>
              <a:t/>
            </a:r>
          </a:p>
          <a:p xmlns:a="http://schemas.openxmlformats.org/drawingml/2006/main">
            <a:r>
              <a:t>Native table reproduces the deterministic sample output from planner.js; demonstration data, not user evidence. Live product: https://vestigeclub.github.io/VentureMVP/.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60–90 seconds. The planner is free. The proposed payer is the coordinator buying a five-dollar human review for the team, before dividing the remaining work. That price is untested. My first test is whether two of three students voluntarily put a plan into their real team workflow. If they do not, I will revise the workflow before building the paid service.</a:t>
            </a:r>
          </a:p>
          <a:p xmlns:a="http://schemas.openxmlformats.org/drawingml/2006/main">
            <a:r>
              <a:t/>
            </a:r>
          </a:p>
          <a:p xmlns:a="http://schemas.openxmlformats.org/drawingml/2006/main">
            <a:r>
              <a:t>No tests, sales, or practice pitch have happened yet. H1 v2 is precommitted in EXPERIMENT.md. Pricing and costs are assumptions in ECONOMICS.md. The actual practice feedback must guide the claim revision for the graded re-pitch.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46e5a3431d48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636a80ec0e4a26" /><Relationship Type="http://schemas.openxmlformats.org/officeDocument/2006/relationships/slideLayout" Target="/ppt/slideLayouts/slideLayout1.xml" Id="Rb48d7e6de4b34f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8d7e6de4b34f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31b7a5044843c5" /><Relationship Type="http://schemas.openxmlformats.org/officeDocument/2006/relationships/notesSlide" Target="/ppt/notesSlides/notesSlide1.xml" Id="R70ab85dbab9640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be083c398642d3" /><Relationship Type="http://schemas.openxmlformats.org/officeDocument/2006/relationships/notesSlide" Target="/ppt/notesSlides/notesSlide2.xml" Id="R4748c6a06fa948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1b3faba2c34095" /><Relationship Type="http://schemas.openxmlformats.org/officeDocument/2006/relationships/notesSlide" Target="/ppt/notesSlides/notesSlide3.xml" Id="R69ca944cc9344f4b" /></Relationships>
</file>

<file path=ppt/slides/slide1.xml><?xml version="1.0" encoding="utf-8"?>
<p:sld xmlns:p="http://schemas.openxmlformats.org/presentationml/2006/main">
  <p:cSld>
    <p:bg>
      <p:bgPr>
        <a:solidFill xmlns:a="http://schemas.openxmlformats.org/drawingml/2006/main">
          <a:srgbClr val="2546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902B93-1D4B-4864-8AF2-DE113686EB6B}"/>
              </a:ext>
            </a:extLst>
          </p:cNvPr>
          <p:cNvSpPr>
            <a:spLocks xmlns:a="http://schemas.openxmlformats.org/drawingml/2006/main" noGrp="1"/>
          </p:cNvSpPr>
          <p:nvPr/>
        </p:nvSpPr>
        <p:spPr>
          <a:xfrm xmlns:a="http://schemas.openxmlformats.org/drawingml/2006/main">
            <a:off x="609600" y="3810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fairshare</a:t>
            </a:r>
          </a:p>
        </p:txBody>
      </p:sp>
      <p:sp>
        <p:nvSpPr>
          <p:cNvPr id="2" name="">
            <a:extLst xmlns:a="http://schemas.openxmlformats.org/drawingml/2006/main">
              <a:ext uri="{FF2B5EF4-FFF2-40B4-BE49-F238E27FC236}">
                <a16:creationId xmlns:a16="http://schemas.microsoft.com/office/drawing/2014/main" id="{27735313-B60D-4B4B-9C7E-0364B43E545A}"/>
              </a:ext>
            </a:extLst>
          </p:cNvPr>
          <p:cNvSpPr>
            <a:spLocks xmlns:a="http://schemas.openxmlformats.org/drawingml/2006/main" noGrp="1"/>
          </p:cNvSpPr>
          <p:nvPr/>
        </p:nvSpPr>
        <p:spPr>
          <a:xfrm xmlns:a="http://schemas.openxmlformats.org/drawingml/2006/main">
            <a:off x="609600" y="1381125"/>
            <a:ext cx="10858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The deadline is tomorrow.</a:t>
            </a:r>
          </a:p>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Who owns the slides?</a:t>
            </a:r>
          </a:p>
        </p:txBody>
      </p:sp>
      <p:sp>
        <p:nvSpPr>
          <p:cNvPr id="3" name="">
            <a:extLst xmlns:a="http://schemas.openxmlformats.org/drawingml/2006/main">
              <a:ext uri="{FF2B5EF4-FFF2-40B4-BE49-F238E27FC236}">
                <a16:creationId xmlns:a16="http://schemas.microsoft.com/office/drawing/2014/main" id="{C7003143-7699-43EC-B2B0-A63A7998F77F}"/>
              </a:ext>
            </a:extLst>
          </p:cNvPr>
          <p:cNvSpPr>
            <a:spLocks xmlns:a="http://schemas.openxmlformats.org/drawingml/2006/main" noGrp="1"/>
          </p:cNvSpPr>
          <p:nvPr/>
        </p:nvSpPr>
        <p:spPr>
          <a:xfrm xmlns:a="http://schemas.openxmlformats.org/drawingml/2006/main">
            <a:off x="647700" y="3857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For the student coordinating a group assignment</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when the group chat still has no clear owners.</a:t>
            </a:r>
          </a:p>
        </p:txBody>
      </p:sp>
      <p:sp>
        <p:nvSpPr>
          <p:cNvPr id="4" name="">
            <a:extLst xmlns:a="http://schemas.openxmlformats.org/drawingml/2006/main">
              <a:ext uri="{FF2B5EF4-FFF2-40B4-BE49-F238E27FC236}">
                <a16:creationId xmlns:a16="http://schemas.microsoft.com/office/drawing/2014/main" id="{818C87AA-5091-489D-8CCE-88F1CC584880}"/>
              </a:ext>
            </a:extLst>
          </p:cNvPr>
          <p:cNvSpPr>
            <a:spLocks xmlns:a="http://schemas.openxmlformats.org/drawingml/2006/main" noGrp="1"/>
          </p:cNvSpPr>
          <p:nvPr/>
        </p:nvSpPr>
        <p:spPr>
          <a:xfrm xmlns:a="http://schemas.openxmlformats.org/drawingml/2006/main">
            <a:off x="647700" y="5353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The cost: repeated follow-up and a last-minute scramble.</a:t>
            </a:r>
          </a:p>
        </p:txBody>
      </p:sp>
    </p:spTree>
    <p:extLst>
      <p:ext uri="{BB962C8B-B14F-4D97-AF65-F5344CB8AC3E}">
        <p14:creationId xmlns:p14="http://schemas.microsoft.com/office/powerpoint/2010/main" val="2773172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7ECE12-F57E-41CA-903B-B0670FEFFDDF}"/>
              </a:ext>
            </a:extLst>
          </p:cNvPr>
          <p:cNvSpPr>
            <a:spLocks xmlns:a="http://schemas.openxmlformats.org/drawingml/2006/main" noGrp="1"/>
          </p:cNvSpPr>
          <p:nvPr/>
        </p:nvSpPr>
        <p:spPr>
          <a:xfrm xmlns:a="http://schemas.openxmlformats.org/drawingml/2006/main">
            <a:off x="609600" y="3810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7191F"/>
                </a:solidFill>
                <a:latin typeface="Helvetica Neue"/>
                <a:ea typeface="Helvetica Neue"/>
                <a:cs typeface="Helvetica Neue"/>
              </a:defRPr>
            </a:pPr>
            <a:r>
              <a:rPr sz="3900" b="1">
                <a:solidFill>
                  <a:srgbClr val="17191F"/>
                </a:solidFill>
                <a:latin typeface="Helvetica Neue"/>
                <a:ea typeface="Helvetica Neue"/>
                <a:cs typeface="Helvetica Neue"/>
              </a:rPr>
              <a:t>A plan the team can review</a:t>
            </a:r>
          </a:p>
        </p:txBody>
      </p:sp>
      <p:sp>
        <p:nvSpPr>
          <p:cNvPr id="2" name="">
            <a:extLst xmlns:a="http://schemas.openxmlformats.org/drawingml/2006/main">
              <a:ext uri="{FF2B5EF4-FFF2-40B4-BE49-F238E27FC236}">
                <a16:creationId xmlns:a16="http://schemas.microsoft.com/office/drawing/2014/main" id="{C4113FFA-9B71-4909-A6B4-7A564671E30F}"/>
              </a:ext>
            </a:extLst>
          </p:cNvPr>
          <p:cNvSpPr>
            <a:spLocks xmlns:a="http://schemas.openxmlformats.org/drawingml/2006/main" noGrp="1"/>
          </p:cNvSpPr>
          <p:nvPr/>
        </p:nvSpPr>
        <p:spPr>
          <a:xfrm xmlns:a="http://schemas.openxmlformats.org/drawingml/2006/main">
            <a:off x="647700" y="11906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0636E"/>
                </a:solidFill>
                <a:latin typeface="Helvetica Neue"/>
                <a:ea typeface="Helvetica Neue"/>
                <a:cs typeface="Helvetica Neue"/>
              </a:defRPr>
            </a:pPr>
            <a:r>
              <a:rPr sz="1950" b="0">
                <a:solidFill>
                  <a:srgbClr val="60636E"/>
                </a:solidFill>
                <a:latin typeface="Helvetica Neue"/>
                <a:ea typeface="Helvetica Neue"/>
                <a:cs typeface="Helvetica Neue"/>
              </a:rPr>
              <a:t>Sample project: 9 hours of work across 3 teammates</a:t>
            </a:r>
          </a:p>
        </p:txBody>
      </p:sp>
      <p:graphicFrame>
        <p:nvGraphicFramePr>
          <p:cNvPr id="8" name=""/>
          <p:cNvGraphicFramePr/>
          <p:nvPr/>
        </p:nvGraphicFramePr>
        <p:xfrm>
          <a:off xmlns:a="http://schemas.openxmlformats.org/drawingml/2006/main" x="647700" y="1952625"/>
          <a:ext xmlns:a="http://schemas.openxmlformats.org/drawingml/2006/main" cx="10896600" cy="3086100"/>
        </p:xfrm>
        <a:graphic xmlns:a="http://schemas.openxmlformats.org/drawingml/2006/main">
          <a:graphicData uri="http://schemas.openxmlformats.org/drawingml/2006/table">
            <a:tbl>
              <a:tblPr/>
              <a:tblGrid>
                <a:gridCol w="5429250"/>
                <a:gridCol w="1714500"/>
                <a:gridCol w="1524000"/>
                <a:gridCol w="2228850"/>
              </a:tblGrid>
              <a:tr h="514350">
                <a:tc>
                  <a:txBody>
                    <a:bodyPr/>
                    <a:lstStyle/>
                    <a:p>
                      <a:r>
                        <a:rPr sz="1950" b="1">
                          <a:solidFill>
                            <a:srgbClr val="FFFFFF"/>
                          </a:solidFill>
                          <a:latin typeface="Helvetica Neue"/>
                          <a:ea typeface="Helvetica Neue"/>
                          <a:cs typeface="Helvetica Neue"/>
                        </a:rPr>
                        <a:t>Task</a:t>
                      </a:r>
                    </a:p>
                  </a:txBody>
                  <a:tcPr marL="91440" marR="91440" marT="45720" marB="45720">
                    <a:solidFill>
                      <a:srgbClr val="2546EE"/>
                    </a:solidFill>
                  </a:tcPr>
                </a:tc>
                <a:tc>
                  <a:txBody>
                    <a:bodyPr/>
                    <a:lstStyle/>
                    <a:p>
                      <a:r>
                        <a:rPr sz="1950" b="1">
                          <a:solidFill>
                            <a:srgbClr val="FFFFFF"/>
                          </a:solidFill>
                          <a:latin typeface="Helvetica Neue"/>
                          <a:ea typeface="Helvetica Neue"/>
                          <a:cs typeface="Helvetica Neue"/>
                        </a:rPr>
                        <a:t>Owner</a:t>
                      </a:r>
                    </a:p>
                  </a:txBody>
                  <a:tcPr marL="91440" marR="91440" marT="45720" marB="45720">
                    <a:solidFill>
                      <a:srgbClr val="2546EE"/>
                    </a:solidFill>
                  </a:tcPr>
                </a:tc>
                <a:tc>
                  <a:txBody>
                    <a:bodyPr/>
                    <a:lstStyle/>
                    <a:p>
                      <a:r>
                        <a:rPr sz="1950" b="1">
                          <a:solidFill>
                            <a:srgbClr val="FFFFFF"/>
                          </a:solidFill>
                          <a:latin typeface="Helvetica Neue"/>
                          <a:ea typeface="Helvetica Neue"/>
                          <a:cs typeface="Helvetica Neue"/>
                        </a:rPr>
                        <a:t>Effort</a:t>
                      </a:r>
                    </a:p>
                  </a:txBody>
                  <a:tcPr marL="91440" marR="91440" marT="45720" marB="45720">
                    <a:solidFill>
                      <a:srgbClr val="2546EE"/>
                    </a:solidFill>
                  </a:tcPr>
                </a:tc>
                <a:tc>
                  <a:txBody>
                    <a:bodyPr/>
                    <a:lstStyle/>
                    <a:p>
                      <a:r>
                        <a:rPr sz="1950" b="1">
                          <a:solidFill>
                            <a:srgbClr val="FFFFFF"/>
                          </a:solidFill>
                          <a:latin typeface="Helvetica Neue"/>
                          <a:ea typeface="Helvetica Neue"/>
                          <a:cs typeface="Helvetica Neue"/>
                        </a:rPr>
                        <a:t>Due</a:t>
                      </a:r>
                    </a:p>
                  </a:txBody>
                  <a:tcPr marL="91440" marR="91440" marT="45720" marB="45720">
                    <a:solidFill>
                      <a:srgbClr val="2546EE"/>
                    </a:solidFill>
                  </a:tcPr>
                </a:tc>
              </a:tr>
              <a:tr h="514350">
                <a:tc>
                  <a:txBody>
                    <a:bodyPr/>
                    <a:lstStyle/>
                    <a:p>
                      <a:r>
                        <a:rPr sz="1950" b="0">
                          <a:solidFill>
                            <a:srgbClr val="17191F"/>
                          </a:solidFill>
                          <a:latin typeface="Helvetica Neue"/>
                          <a:ea typeface="Helvetica Neue"/>
                          <a:cs typeface="Helvetica Neue"/>
                        </a:rPr>
                        <a:t>Research customer needs</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Sam</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2h</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09/09</a:t>
                      </a:r>
                    </a:p>
                  </a:txBody>
                  <a:tcPr marL="91440" marR="91440" marT="45720" marB="45720">
                    <a:solidFill>
                      <a:srgbClr val="FFFFFF"/>
                    </a:solidFill>
                  </a:tcPr>
                </a:tc>
              </a:tr>
              <a:tr h="514350">
                <a:tc>
                  <a:txBody>
                    <a:bodyPr/>
                    <a:lstStyle/>
                    <a:p>
                      <a:r>
                        <a:rPr sz="1950" b="0">
                          <a:solidFill>
                            <a:srgbClr val="17191F"/>
                          </a:solidFill>
                          <a:latin typeface="Helvetica Neue"/>
                          <a:ea typeface="Helvetica Neue"/>
                          <a:cs typeface="Helvetica Neue"/>
                        </a:rPr>
                        <a:t>Compare competitors</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Jo</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2h</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09/10</a:t>
                      </a:r>
                    </a:p>
                  </a:txBody>
                  <a:tcPr marL="91440" marR="91440" marT="45720" marB="45720">
                    <a:solidFill>
                      <a:srgbClr val="FFFFFF"/>
                    </a:solidFill>
                  </a:tcPr>
                </a:tc>
              </a:tr>
              <a:tr h="514350">
                <a:tc>
                  <a:txBody>
                    <a:bodyPr/>
                    <a:lstStyle/>
                    <a:p>
                      <a:r>
                        <a:rPr sz="1950" b="0">
                          <a:solidFill>
                            <a:srgbClr val="17191F"/>
                          </a:solidFill>
                          <a:latin typeface="Helvetica Neue"/>
                          <a:ea typeface="Helvetica Neue"/>
                          <a:cs typeface="Helvetica Neue"/>
                        </a:rPr>
                        <a:t>Estimate the budget</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Sam</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1h</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09/11</a:t>
                      </a:r>
                    </a:p>
                  </a:txBody>
                  <a:tcPr marL="91440" marR="91440" marT="45720" marB="45720">
                    <a:solidFill>
                      <a:srgbClr val="FFFFFF"/>
                    </a:solidFill>
                  </a:tcPr>
                </a:tc>
              </a:tr>
              <a:tr h="514350">
                <a:tc>
                  <a:txBody>
                    <a:bodyPr/>
                    <a:lstStyle/>
                    <a:p>
                      <a:r>
                        <a:rPr sz="1950" b="0">
                          <a:solidFill>
                            <a:srgbClr val="17191F"/>
                          </a:solidFill>
                          <a:latin typeface="Helvetica Neue"/>
                          <a:ea typeface="Helvetica Neue"/>
                          <a:cs typeface="Helvetica Neue"/>
                        </a:rPr>
                        <a:t>Draft presentation slides</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Alex</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3h</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09/12</a:t>
                      </a:r>
                    </a:p>
                  </a:txBody>
                  <a:tcPr marL="91440" marR="91440" marT="45720" marB="45720">
                    <a:solidFill>
                      <a:srgbClr val="FFFFFF"/>
                    </a:solidFill>
                  </a:tcPr>
                </a:tc>
              </a:tr>
              <a:tr h="514350">
                <a:tc>
                  <a:txBody>
                    <a:bodyPr/>
                    <a:lstStyle/>
                    <a:p>
                      <a:r>
                        <a:rPr sz="1950" b="0">
                          <a:solidFill>
                            <a:srgbClr val="17191F"/>
                          </a:solidFill>
                          <a:latin typeface="Helvetica Neue"/>
                          <a:ea typeface="Helvetica Neue"/>
                          <a:cs typeface="Helvetica Neue"/>
                        </a:rPr>
                        <a:t>Review and rehearse</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Jo</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1h</a:t>
                      </a:r>
                    </a:p>
                  </a:txBody>
                  <a:tcPr marL="91440" marR="91440" marT="45720" marB="45720">
                    <a:solidFill>
                      <a:srgbClr val="FFFFFF"/>
                    </a:solidFill>
                  </a:tcPr>
                </a:tc>
                <a:tc>
                  <a:txBody>
                    <a:bodyPr/>
                    <a:lstStyle/>
                    <a:p>
                      <a:r>
                        <a:rPr sz="1950" b="0">
                          <a:solidFill>
                            <a:srgbClr val="17191F"/>
                          </a:solidFill>
                          <a:latin typeface="Helvetica Neue"/>
                          <a:ea typeface="Helvetica Neue"/>
                          <a:cs typeface="Helvetica Neue"/>
                        </a:rPr>
                        <a:t>09/14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35694B4-EC4E-4C94-BB1B-583F1D6BE929}"/>
              </a:ext>
            </a:extLst>
          </p:cNvPr>
          <p:cNvSpPr>
            <a:spLocks xmlns:a="http://schemas.openxmlformats.org/drawingml/2006/main" noGrp="1"/>
          </p:cNvSpPr>
          <p:nvPr/>
        </p:nvSpPr>
        <p:spPr>
          <a:xfrm xmlns:a="http://schemas.openxmlformats.org/drawingml/2006/main">
            <a:off x="666750" y="5238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46EE"/>
                </a:solidFill>
                <a:latin typeface="Helvetica Neue"/>
                <a:ea typeface="Helvetica Neue"/>
                <a:cs typeface="Helvetica Neue"/>
              </a:defRPr>
            </a:pPr>
            <a:r>
              <a:rPr sz="2100" b="1">
                <a:solidFill>
                  <a:srgbClr val="2546EE"/>
                </a:solidFill>
                <a:latin typeface="Helvetica Neue"/>
                <a:ea typeface="Helvetica Neue"/>
                <a:cs typeface="Helvetica Neue"/>
              </a:rPr>
              <a:t>Alex 3h     Sam 3h     Jo 3h</a:t>
            </a:r>
          </a:p>
        </p:txBody>
      </p:sp>
      <p:sp>
        <p:nvSpPr>
          <p:cNvPr id="5" name="">
            <a:extLst xmlns:a="http://schemas.openxmlformats.org/drawingml/2006/main">
              <a:ext uri="{FF2B5EF4-FFF2-40B4-BE49-F238E27FC236}">
                <a16:creationId xmlns:a16="http://schemas.microsoft.com/office/drawing/2014/main" id="{4DCFCA79-A27C-4DB8-B1E5-F8BAD6A1B1E2}"/>
              </a:ext>
            </a:extLst>
          </p:cNvPr>
          <p:cNvSpPr>
            <a:spLocks xmlns:a="http://schemas.openxmlformats.org/drawingml/2006/main" noGrp="1"/>
          </p:cNvSpPr>
          <p:nvPr/>
        </p:nvSpPr>
        <p:spPr>
          <a:xfrm xmlns:a="http://schemas.openxmlformats.org/drawingml/2006/main">
            <a:off x="666750" y="5962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0636E"/>
                </a:solidFill>
                <a:latin typeface="Helvetica Neue"/>
                <a:ea typeface="Helvetica Neue"/>
                <a:cs typeface="Helvetica Neue"/>
              </a:defRPr>
            </a:pPr>
            <a:r>
              <a:rPr sz="1725" b="0">
                <a:solidFill>
                  <a:srgbClr val="60636E"/>
                </a:solidFill>
                <a:latin typeface="Helvetica Neue"/>
                <a:ea typeface="Helvetica Neue"/>
                <a:cs typeface="Helvetica Neue"/>
              </a:rPr>
              <a:t>vestigeclub.github.io/VentureMVP</a:t>
            </a:r>
          </a:p>
        </p:txBody>
      </p:sp>
    </p:spTree>
    <p:extLst>
      <p:ext uri="{BB962C8B-B14F-4D97-AF65-F5344CB8AC3E}">
        <p14:creationId xmlns:p14="http://schemas.microsoft.com/office/powerpoint/2010/main" val="4436184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BED3E9-8FF2-41BA-B6CC-569F9C65D2CF}"/>
              </a:ext>
            </a:extLst>
          </p:cNvPr>
          <p:cNvSpPr>
            <a:spLocks xmlns:a="http://schemas.openxmlformats.org/drawingml/2006/main" noGrp="1"/>
          </p:cNvSpPr>
          <p:nvPr/>
        </p:nvSpPr>
        <p:spPr>
          <a:xfrm xmlns:a="http://schemas.openxmlformats.org/drawingml/2006/main">
            <a:off x="609600" y="428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7191F"/>
                </a:solidFill>
                <a:latin typeface="Helvetica Neue"/>
                <a:ea typeface="Helvetica Neue"/>
                <a:cs typeface="Helvetica Neue"/>
              </a:defRPr>
            </a:pPr>
            <a:r>
              <a:rPr sz="3900" b="1">
                <a:solidFill>
                  <a:srgbClr val="17191F"/>
                </a:solidFill>
                <a:latin typeface="Helvetica Neue"/>
                <a:ea typeface="Helvetica Neue"/>
                <a:cs typeface="Helvetica Neue"/>
              </a:rPr>
              <a:t>Proposed payer: the coordinator</a:t>
            </a:r>
          </a:p>
        </p:txBody>
      </p:sp>
      <p:sp>
        <p:nvSpPr>
          <p:cNvPr id="2" name="">
            <a:extLst xmlns:a="http://schemas.openxmlformats.org/drawingml/2006/main">
              <a:ext uri="{FF2B5EF4-FFF2-40B4-BE49-F238E27FC236}">
                <a16:creationId xmlns:a16="http://schemas.microsoft.com/office/drawing/2014/main" id="{53EFFC40-0CF8-406F-920F-334DBC74EB41}"/>
              </a:ext>
            </a:extLst>
          </p:cNvPr>
          <p:cNvSpPr>
            <a:spLocks xmlns:a="http://schemas.openxmlformats.org/drawingml/2006/main" noGrp="1"/>
          </p:cNvSpPr>
          <p:nvPr/>
        </p:nvSpPr>
        <p:spPr>
          <a:xfrm xmlns:a="http://schemas.openxmlformats.org/drawingml/2006/main">
            <a:off x="647700" y="1571625"/>
            <a:ext cx="3905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2546EE"/>
                </a:solidFill>
                <a:latin typeface="Helvetica Neue"/>
                <a:ea typeface="Helvetica Neue"/>
                <a:cs typeface="Helvetica Neue"/>
              </a:defRPr>
            </a:pPr>
            <a:r>
              <a:rPr sz="9900" b="1">
                <a:solidFill>
                  <a:srgbClr val="2546EE"/>
                </a:solidFill>
                <a:latin typeface="Helvetica Neue"/>
                <a:ea typeface="Helvetica Neue"/>
                <a:cs typeface="Helvetica Neue"/>
              </a:rPr>
              <a:t>$5</a:t>
            </a:r>
          </a:p>
        </p:txBody>
      </p:sp>
      <p:sp>
        <p:nvSpPr>
          <p:cNvPr id="3" name="">
            <a:extLst xmlns:a="http://schemas.openxmlformats.org/drawingml/2006/main">
              <a:ext uri="{FF2B5EF4-FFF2-40B4-BE49-F238E27FC236}">
                <a16:creationId xmlns:a16="http://schemas.microsoft.com/office/drawing/2014/main" id="{6EA6A630-C9D6-44E3-B18A-0F04DE030237}"/>
              </a:ext>
            </a:extLst>
          </p:cNvPr>
          <p:cNvSpPr>
            <a:spLocks xmlns:a="http://schemas.openxmlformats.org/drawingml/2006/main" noGrp="1"/>
          </p:cNvSpPr>
          <p:nvPr/>
        </p:nvSpPr>
        <p:spPr>
          <a:xfrm xmlns:a="http://schemas.openxmlformats.org/drawingml/2006/main">
            <a:off x="685800" y="33337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F"/>
                </a:solidFill>
                <a:latin typeface="Helvetica Neue"/>
                <a:ea typeface="Helvetica Neue"/>
                <a:cs typeface="Helvetica Neue"/>
              </a:defRPr>
            </a:pPr>
            <a:r>
              <a:rPr sz="2250" b="0">
                <a:solidFill>
                  <a:srgbClr val="17191F"/>
                </a:solidFill>
                <a:latin typeface="Helvetica Neue"/>
                <a:ea typeface="Helvetica Neue"/>
                <a:cs typeface="Helvetica Neue"/>
              </a:rPr>
              <a:t>Proposed human plan review</a:t>
            </a:r>
          </a:p>
          <a:p xmlns:a="http://schemas.openxmlformats.org/drawingml/2006/main">
            <a:pPr>
              <a:defRPr sz="2250" b="0">
                <a:solidFill>
                  <a:srgbClr val="17191F"/>
                </a:solidFill>
                <a:latin typeface="Helvetica Neue"/>
                <a:ea typeface="Helvetica Neue"/>
                <a:cs typeface="Helvetica Neue"/>
              </a:defRPr>
            </a:pPr>
            <a:r>
              <a:rPr sz="2250" b="0">
                <a:solidFill>
                  <a:srgbClr val="17191F"/>
                </a:solidFill>
                <a:latin typeface="Helvetica Neue"/>
                <a:ea typeface="Helvetica Neue"/>
                <a:cs typeface="Helvetica Neue"/>
              </a:rPr>
              <a:t>per team, per assignment</a:t>
            </a:r>
          </a:p>
        </p:txBody>
      </p:sp>
      <p:sp>
        <p:nvSpPr>
          <p:cNvPr id="4" name="">
            <a:extLst xmlns:a="http://schemas.openxmlformats.org/drawingml/2006/main">
              <a:ext uri="{FF2B5EF4-FFF2-40B4-BE49-F238E27FC236}">
                <a16:creationId xmlns:a16="http://schemas.microsoft.com/office/drawing/2014/main" id="{ACD8A4F8-C2C2-4456-BBC9-981A480B5B8A}"/>
              </a:ext>
            </a:extLst>
          </p:cNvPr>
          <p:cNvSpPr>
            <a:spLocks xmlns:a="http://schemas.openxmlformats.org/drawingml/2006/main" noGrp="1"/>
          </p:cNvSpPr>
          <p:nvPr/>
        </p:nvSpPr>
        <p:spPr>
          <a:xfrm xmlns:a="http://schemas.openxmlformats.org/drawingml/2006/main">
            <a:off x="6229350" y="17716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91F"/>
                </a:solidFill>
                <a:latin typeface="Helvetica Neue"/>
                <a:ea typeface="Helvetica Neue"/>
                <a:cs typeface="Helvetica Neue"/>
              </a:defRPr>
            </a:pPr>
            <a:r>
              <a:rPr sz="2400" b="0">
                <a:solidFill>
                  <a:srgbClr val="17191F"/>
                </a:solidFill>
                <a:latin typeface="Helvetica Neue"/>
                <a:ea typeface="Helvetica Neue"/>
                <a:cs typeface="Helvetica Neue"/>
              </a:rPr>
              <a:t>One student would pay for a review</a:t>
            </a:r>
          </a:p>
          <a:p xmlns:a="http://schemas.openxmlformats.org/drawingml/2006/main">
            <a:pPr>
              <a:defRPr sz="2400" b="0">
                <a:solidFill>
                  <a:srgbClr val="17191F"/>
                </a:solidFill>
                <a:latin typeface="Helvetica Neue"/>
                <a:ea typeface="Helvetica Neue"/>
                <a:cs typeface="Helvetica Neue"/>
              </a:defRPr>
            </a:pPr>
            <a:r>
              <a:rPr sz="2400" b="0">
                <a:solidFill>
                  <a:srgbClr val="17191F"/>
                </a:solidFill>
                <a:latin typeface="Helvetica Neue"/>
                <a:ea typeface="Helvetica Neue"/>
                <a:cs typeface="Helvetica Neue"/>
              </a:rPr>
              <a:t>the whole team can use.</a:t>
            </a:r>
          </a:p>
        </p:txBody>
      </p:sp>
      <p:sp>
        <p:nvSpPr>
          <p:cNvPr id="5" name="">
            <a:extLst xmlns:a="http://schemas.openxmlformats.org/drawingml/2006/main">
              <a:ext uri="{FF2B5EF4-FFF2-40B4-BE49-F238E27FC236}">
                <a16:creationId xmlns:a16="http://schemas.microsoft.com/office/drawing/2014/main" id="{7868CCE2-DB89-4B68-BCD8-AC0DE4707097}"/>
              </a:ext>
            </a:extLst>
          </p:cNvPr>
          <p:cNvSpPr>
            <a:spLocks xmlns:a="http://schemas.openxmlformats.org/drawingml/2006/main" noGrp="1"/>
          </p:cNvSpPr>
          <p:nvPr/>
        </p:nvSpPr>
        <p:spPr>
          <a:xfrm xmlns:a="http://schemas.openxmlformats.org/drawingml/2006/main">
            <a:off x="6229350" y="3238500"/>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0636E"/>
                </a:solidFill>
                <a:latin typeface="Helvetica Neue"/>
                <a:ea typeface="Helvetica Neue"/>
                <a:cs typeface="Helvetica Neue"/>
              </a:defRPr>
            </a:pPr>
            <a:r>
              <a:rPr sz="2100" b="0">
                <a:solidFill>
                  <a:srgbClr val="60636E"/>
                </a:solidFill>
                <a:latin typeface="Helvetica Neue"/>
                <a:ea typeface="Helvetica Neue"/>
                <a:cs typeface="Helvetica Neue"/>
              </a:rPr>
              <a:t>The free planner works today.</a:t>
            </a:r>
          </a:p>
          <a:p xmlns:a="http://schemas.openxmlformats.org/drawingml/2006/main">
            <a:pPr>
              <a:defRPr sz="2100" b="0">
                <a:solidFill>
                  <a:srgbClr val="60636E"/>
                </a:solidFill>
                <a:latin typeface="Helvetica Neue"/>
                <a:ea typeface="Helvetica Neue"/>
                <a:cs typeface="Helvetica Neue"/>
              </a:defRPr>
            </a:pPr>
            <a:r>
              <a:rPr sz="2100" b="0">
                <a:solidFill>
                  <a:srgbClr val="60636E"/>
                </a:solidFill>
                <a:latin typeface="Helvetica Neue"/>
                <a:ea typeface="Helvetica Neue"/>
                <a:cs typeface="Helvetica Neue"/>
              </a:rPr>
              <a:t>Paid review is not available yet.</a:t>
            </a:r>
          </a:p>
          <a:p xmlns:a="http://schemas.openxmlformats.org/drawingml/2006/main">
            <a:pPr>
              <a:defRPr sz="2100" b="0">
                <a:solidFill>
                  <a:srgbClr val="60636E"/>
                </a:solidFill>
                <a:latin typeface="Helvetica Neue"/>
                <a:ea typeface="Helvetica Neue"/>
                <a:cs typeface="Helvetica Neue"/>
              </a:defRPr>
            </a:pPr>
            <a:r>
              <a:rPr sz="2100" b="0">
                <a:solidFill>
                  <a:srgbClr val="60636E"/>
                </a:solidFill>
                <a:latin typeface="Helvetica Neue"/>
                <a:ea typeface="Helvetica Neue"/>
                <a:cs typeface="Helvetica Neue"/>
              </a:rPr>
              <a:t>Willingness to pay is untested.</a:t>
            </a:r>
          </a:p>
        </p:txBody>
      </p:sp>
      <p:sp>
        <p:nvSpPr>
          <p:cNvPr id="6" name="">
            <a:extLst xmlns:a="http://schemas.openxmlformats.org/drawingml/2006/main">
              <a:ext uri="{FF2B5EF4-FFF2-40B4-BE49-F238E27FC236}">
                <a16:creationId xmlns:a16="http://schemas.microsoft.com/office/drawing/2014/main" id="{791CB3D1-F080-4C76-8C81-434943C57416}"/>
              </a:ext>
            </a:extLst>
          </p:cNvPr>
          <p:cNvSpPr>
            <a:spLocks xmlns:a="http://schemas.openxmlformats.org/drawingml/2006/main" noGrp="1"/>
          </p:cNvSpPr>
          <p:nvPr/>
        </p:nvSpPr>
        <p:spPr>
          <a:xfrm xmlns:a="http://schemas.openxmlformats.org/drawingml/2006/main">
            <a:off x="666750" y="54102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191F"/>
                </a:solidFill>
                <a:latin typeface="Helvetica Neue"/>
                <a:ea typeface="Helvetica Neue"/>
                <a:cs typeface="Helvetica Neue"/>
              </a:defRPr>
            </a:pPr>
            <a:r>
              <a:rPr sz="2175" b="1">
                <a:solidFill>
                  <a:srgbClr val="17191F"/>
                </a:solidFill>
                <a:latin typeface="Helvetica Neue"/>
                <a:ea typeface="Helvetica Neue"/>
                <a:cs typeface="Helvetica Neue"/>
              </a:rPr>
              <a:t>First test: will 2 of 3 students put a plan into their real team workflow?</a:t>
            </a:r>
          </a:p>
        </p:txBody>
      </p:sp>
    </p:spTree>
    <p:extLst>
      <p:ext uri="{BB962C8B-B14F-4D97-AF65-F5344CB8AC3E}">
        <p14:creationId xmlns:p14="http://schemas.microsoft.com/office/powerpoint/2010/main" val="674561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2026-09-08T15:25:54.9410000Z</dcterms:created>
  <dcterms:modified xsi:type="dcterms:W3CDTF">2026-09-08T15:25:54.9410000Z</dcterms:modified>
</coreProperties>
</file>